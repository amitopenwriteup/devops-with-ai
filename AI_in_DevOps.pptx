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274320"/>
            <a:ext cx="73152" cy="73152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274320"/>
            <a:ext cx="73152" cy="73152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0" y="274320"/>
            <a:ext cx="73152" cy="73152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0" y="274320"/>
            <a:ext cx="73152" cy="73152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0" y="274320"/>
            <a:ext cx="73152" cy="73152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0" y="274320"/>
            <a:ext cx="73152" cy="73152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0" y="4754880"/>
            <a:ext cx="73152" cy="73152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4754880"/>
            <a:ext cx="73152" cy="73152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4754880"/>
            <a:ext cx="73152" cy="73152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0" y="4754880"/>
            <a:ext cx="73152" cy="73152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0" y="4754880"/>
            <a:ext cx="73152" cy="73152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0" y="4754880"/>
            <a:ext cx="73152" cy="73152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502920"/>
            <a:ext cx="1645920" cy="347472"/>
          </a:xfrm>
          <a:prstGeom prst="roundRect">
            <a:avLst>
              <a:gd name="adj" fmla="val 13158"/>
            </a:avLst>
          </a:prstGeom>
          <a:solidFill>
            <a:srgbClr val="7B2FBE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5029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LAB 1 WORKSHOP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1051560"/>
            <a:ext cx="7772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DevOps</a:t>
            </a:r>
            <a:endParaRPr lang="en-US" sz="5200" dirty="0"/>
          </a:p>
        </p:txBody>
      </p:sp>
      <p:sp>
        <p:nvSpPr>
          <p:cNvPr id="18" name="Shape 16"/>
          <p:cNvSpPr/>
          <p:nvPr/>
        </p:nvSpPr>
        <p:spPr>
          <a:xfrm>
            <a:off x="731520" y="2331720"/>
            <a:ext cx="36576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25146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100" kern="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AI  ·  Generative AI  ·  LLMs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0" y="137160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 }</a:t>
            </a:r>
            <a:endParaRPr lang="en-US" sz="12000" dirty="0"/>
          </a:p>
        </p:txBody>
      </p:sp>
      <p:sp>
        <p:nvSpPr>
          <p:cNvPr id="21" name="Text 19"/>
          <p:cNvSpPr/>
          <p:nvPr/>
        </p:nvSpPr>
        <p:spPr>
          <a:xfrm>
            <a:off x="731520" y="3063240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0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how AI transforms modern DevOps workflows — from anomaly detection to intelligent incident resolution.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8099B0"/>
                </a:solidFill>
              </a:rPr>
              <a:t>AI IN DEVOPS — LAB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</a:rPr>
              <a:t>What We'll Cover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737360"/>
            <a:ext cx="2606040" cy="2651760"/>
          </a:xfrm>
          <a:prstGeom prst="rect">
            <a:avLst/>
          </a:prstGeom>
          <a:solidFill>
            <a:srgbClr val="F4F8FC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737360"/>
            <a:ext cx="2606040" cy="914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9202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02920" y="2487168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Traditional AI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292608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5C"/>
                </a:solidFill>
              </a:rPr>
              <a:t>Structured data, rules, predictive models — anomaly detection &amp; forecasting.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737360"/>
            <a:ext cx="2606040" cy="2651760"/>
          </a:xfrm>
          <a:prstGeom prst="rect">
            <a:avLst/>
          </a:prstGeom>
          <a:solidFill>
            <a:srgbClr val="F4F8FC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737360"/>
            <a:ext cx="2606040" cy="91440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19202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337560" y="2487168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Generative AI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37560" y="292608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5C"/>
                </a:solidFill>
              </a:rPr>
              <a:t>LLM-powered incident analysis, RCA automation, and chat-based troubleshooting.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1737360"/>
            <a:ext cx="2606040" cy="2651760"/>
          </a:xfrm>
          <a:prstGeom prst="rect">
            <a:avLst/>
          </a:prstGeom>
          <a:solidFill>
            <a:srgbClr val="F4F8FC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737360"/>
            <a:ext cx="2606040" cy="9144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7" name="Text 15"/>
          <p:cNvSpPr/>
          <p:nvPr/>
        </p:nvSpPr>
        <p:spPr>
          <a:xfrm>
            <a:off x="6172200" y="19202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172200" y="2487168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Large Language Models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72200" y="292608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5C"/>
                </a:solidFill>
              </a:rPr>
              <a:t>Deep dive into how LLMs work and why they're transforming DevOps.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00B4D8"/>
                </a:solidFill>
              </a:rPr>
              <a:t>01  TRADITIONAL AI IN DEVOPS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</a:rPr>
              <a:t>Traditional AI in DevOps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5029200" cy="109728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508760"/>
            <a:ext cx="91440" cy="10972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5448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A3A5C"/>
                </a:solidFill>
              </a:rPr>
              <a:t>Traditional AI relies on structured data, pre-defined rules, and predictive models trained on historical data.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1600200" cy="384048"/>
          </a:xfrm>
          <a:prstGeom prst="roundRect">
            <a:avLst>
              <a:gd name="adj" fmla="val 23810"/>
            </a:avLst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7889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Classification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12848" y="2788920"/>
            <a:ext cx="1600200" cy="384048"/>
          </a:xfrm>
          <a:prstGeom prst="roundRect">
            <a:avLst>
              <a:gd name="adj" fmla="val 23810"/>
            </a:avLst>
          </a:prstGeom>
          <a:solidFill>
            <a:srgbClr val="7B2FBE"/>
          </a:solidFill>
          <a:ln/>
        </p:spPr>
      </p:sp>
      <p:sp>
        <p:nvSpPr>
          <p:cNvPr id="11" name="Text 9"/>
          <p:cNvSpPr/>
          <p:nvPr/>
        </p:nvSpPr>
        <p:spPr>
          <a:xfrm>
            <a:off x="2212848" y="27889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Forecasting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968496" y="2788920"/>
            <a:ext cx="1600200" cy="384048"/>
          </a:xfrm>
          <a:prstGeom prst="roundRect">
            <a:avLst>
              <a:gd name="adj" fmla="val 23810"/>
            </a:avLst>
          </a:prstGeom>
          <a:solidFill>
            <a:srgbClr val="06D6A0"/>
          </a:solidFill>
          <a:ln/>
        </p:spPr>
      </p:sp>
      <p:sp>
        <p:nvSpPr>
          <p:cNvPr id="13" name="Text 11"/>
          <p:cNvSpPr/>
          <p:nvPr/>
        </p:nvSpPr>
        <p:spPr>
          <a:xfrm>
            <a:off x="3968496" y="27889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Anomaly Detection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337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Key Limitations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37490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A3A5C"/>
                </a:solidFill>
              </a:rPr>
              <a:t>Works only on pre-trained scenarios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A3A5C"/>
                </a:solidFill>
              </a:rPr>
              <a:t>Cannot generate insights beyond structured input data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760720" y="685800"/>
            <a:ext cx="3017520" cy="41605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7" name="Text 15"/>
          <p:cNvSpPr/>
          <p:nvPr/>
        </p:nvSpPr>
        <p:spPr>
          <a:xfrm>
            <a:off x="5897880" y="822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099B0"/>
                </a:solidFill>
              </a:rPr>
              <a:t>SYSTEM METRICS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43600" y="2560320"/>
            <a:ext cx="182880" cy="4572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9" name="Shape 17"/>
          <p:cNvSpPr/>
          <p:nvPr/>
        </p:nvSpPr>
        <p:spPr>
          <a:xfrm>
            <a:off x="6190488" y="2194560"/>
            <a:ext cx="182880" cy="8229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0" name="Shape 18"/>
          <p:cNvSpPr/>
          <p:nvPr/>
        </p:nvSpPr>
        <p:spPr>
          <a:xfrm>
            <a:off x="6437376" y="2377440"/>
            <a:ext cx="182880" cy="6400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1" name="Shape 19"/>
          <p:cNvSpPr/>
          <p:nvPr/>
        </p:nvSpPr>
        <p:spPr>
          <a:xfrm>
            <a:off x="6684264" y="1920240"/>
            <a:ext cx="182880" cy="10972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2" name="Shape 20"/>
          <p:cNvSpPr/>
          <p:nvPr/>
        </p:nvSpPr>
        <p:spPr>
          <a:xfrm>
            <a:off x="6931152" y="2286000"/>
            <a:ext cx="182880" cy="7315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3" name="Shape 21"/>
          <p:cNvSpPr/>
          <p:nvPr/>
        </p:nvSpPr>
        <p:spPr>
          <a:xfrm>
            <a:off x="7178040" y="1645920"/>
            <a:ext cx="182880" cy="13716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4" name="Shape 22"/>
          <p:cNvSpPr/>
          <p:nvPr/>
        </p:nvSpPr>
        <p:spPr>
          <a:xfrm>
            <a:off x="7424928" y="2103120"/>
            <a:ext cx="182880" cy="9144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5" name="Shape 23"/>
          <p:cNvSpPr/>
          <p:nvPr/>
        </p:nvSpPr>
        <p:spPr>
          <a:xfrm>
            <a:off x="7671816" y="2468880"/>
            <a:ext cx="182880" cy="5486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6" name="Shape 24"/>
          <p:cNvSpPr/>
          <p:nvPr/>
        </p:nvSpPr>
        <p:spPr>
          <a:xfrm>
            <a:off x="7918704" y="1828800"/>
            <a:ext cx="182880" cy="11887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7" name="Shape 25"/>
          <p:cNvSpPr/>
          <p:nvPr/>
        </p:nvSpPr>
        <p:spPr>
          <a:xfrm>
            <a:off x="8165592" y="2651760"/>
            <a:ext cx="182880" cy="3657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8" name="Shape 26"/>
          <p:cNvSpPr/>
          <p:nvPr/>
        </p:nvSpPr>
        <p:spPr>
          <a:xfrm>
            <a:off x="5897880" y="3017520"/>
            <a:ext cx="2651760" cy="0"/>
          </a:xfrm>
          <a:prstGeom prst="line">
            <a:avLst/>
          </a:prstGeom>
          <a:noFill/>
          <a:ln w="12700">
            <a:solidFill>
              <a:srgbClr val="2A4A6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97880" y="3108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94560"/>
                </a:solidFill>
              </a:rPr>
              <a:t>CPU Usage Anomaly Detected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897880" y="340156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9F1C"/>
                </a:solidFill>
              </a:rPr>
              <a:t>⚠  Alert triggered at 95th percentile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897880" y="36576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99B0"/>
                </a:solidFill>
              </a:rPr>
              <a:t>Action: Notify DevOps team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00B4D8"/>
                </a:solidFill>
              </a:rPr>
              <a:t>01  TRADITIONAL AI — USE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Incident Detection &amp; Prediction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560320" cy="320040"/>
          </a:xfrm>
          <a:prstGeom prst="roundRect">
            <a:avLst>
              <a:gd name="adj" fmla="val 14286"/>
            </a:avLst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17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Use Case: Predicting system failures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920240"/>
            <a:ext cx="1965960" cy="2103120"/>
          </a:xfrm>
          <a:prstGeom prst="rect">
            <a:avLst/>
          </a:prstGeom>
          <a:solidFill>
            <a:srgbClr val="F4F8FC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05840" y="1993392"/>
            <a:ext cx="594360" cy="5943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9933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286000" y="2514600"/>
            <a:ext cx="18288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6517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Log Ingestion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3035808"/>
            <a:ext cx="1783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5C"/>
                </a:solidFill>
              </a:rPr>
              <a:t>Collect structured metrics &amp; logs (CPU, memory, latency).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68880" y="1920240"/>
            <a:ext cx="1965960" cy="2103120"/>
          </a:xfrm>
          <a:prstGeom prst="rect">
            <a:avLst/>
          </a:prstGeom>
          <a:solidFill>
            <a:srgbClr val="F4F8FC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54680" y="1993392"/>
            <a:ext cx="594360" cy="5943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3154680" y="19933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434840" y="2514600"/>
            <a:ext cx="18288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0" y="26517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Pattern Recognition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560320" y="3035808"/>
            <a:ext cx="1783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5C"/>
                </a:solidFill>
              </a:rPr>
              <a:t>Time-series forecasting models detect deviation from baseline.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17720" y="1920240"/>
            <a:ext cx="1965960" cy="2103120"/>
          </a:xfrm>
          <a:prstGeom prst="rect">
            <a:avLst/>
          </a:prstGeom>
          <a:solidFill>
            <a:srgbClr val="F4F8FC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303520" y="1993392"/>
            <a:ext cx="594360" cy="5943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5303520" y="19933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583680" y="2514600"/>
            <a:ext cx="18288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26517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Threshold Alert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09160" y="3035808"/>
            <a:ext cx="1783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5C"/>
                </a:solidFill>
              </a:rPr>
              <a:t>If CPU spikes beyond threshold, anomaly is flagged.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766560" y="1920240"/>
            <a:ext cx="1965960" cy="2103120"/>
          </a:xfrm>
          <a:prstGeom prst="rect">
            <a:avLst/>
          </a:prstGeom>
          <a:solidFill>
            <a:srgbClr val="F4F8FC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452360" y="1993392"/>
            <a:ext cx="594360" cy="5943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7" name="Text 25"/>
          <p:cNvSpPr/>
          <p:nvPr/>
        </p:nvSpPr>
        <p:spPr>
          <a:xfrm>
            <a:off x="7452360" y="19933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858000" y="26517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Team Notification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58000" y="3035808"/>
            <a:ext cx="1783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5C"/>
                </a:solidFill>
              </a:rPr>
              <a:t>DevOps teams are alerted to take preventive action.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" y="4206240"/>
            <a:ext cx="8503920" cy="68580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31" name="Shape 29"/>
          <p:cNvSpPr/>
          <p:nvPr/>
        </p:nvSpPr>
        <p:spPr>
          <a:xfrm>
            <a:off x="320040" y="4206240"/>
            <a:ext cx="73152" cy="685800"/>
          </a:xfrm>
          <a:prstGeom prst="rect">
            <a:avLst/>
          </a:prstGeom>
          <a:solidFill>
            <a:srgbClr val="FF9F1C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425196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4700"/>
                </a:solidFill>
              </a:rPr>
              <a:t>⚠  Limitation: This approach only works on pre-trained scenarios and cannot adapt to novel failure patterns.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7B2FBE"/>
                </a:solidFill>
              </a:rPr>
              <a:t>02  GENERATIVE AI IN DEVOPS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</a:rPr>
              <a:t>Generative AI in DevOps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5120640" cy="960120"/>
          </a:xfrm>
          <a:prstGeom prst="rect">
            <a:avLst/>
          </a:prstGeom>
          <a:solidFill>
            <a:srgbClr val="F5F0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508760"/>
            <a:ext cx="91440" cy="960120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36192"/>
            <a:ext cx="47548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A3A5C"/>
                </a:solidFill>
              </a:rPr>
              <a:t>Gen AI leverages large language models (LLMs) to analyze, summarize, and generate content dynamically from unstructured data.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Advantages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7B2FBE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0358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✦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30175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No Labeled Data Needed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0" y="301752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5C"/>
                </a:solidFill>
              </a:rPr>
              <a:t>Works without extensive pre-labeled training datasets.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648456"/>
            <a:ext cx="320040" cy="320040"/>
          </a:xfrm>
          <a:prstGeom prst="ellipse">
            <a:avLst/>
          </a:prstGeom>
          <a:solidFill>
            <a:srgbClr val="7B2FBE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6484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68680" y="363016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Human-Like Explanations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0" y="363016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5C"/>
                </a:solidFill>
              </a:rPr>
              <a:t>Generates readable summaries and actionable suggestions.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261104"/>
            <a:ext cx="320040" cy="320040"/>
          </a:xfrm>
          <a:prstGeom prst="ellipse">
            <a:avLst/>
          </a:prstGeom>
          <a:solidFill>
            <a:srgbClr val="7B2FBE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2611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✦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" y="424281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Adapts to New Patterns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0400" y="424281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5C"/>
                </a:solidFill>
              </a:rPr>
              <a:t>Handles novel, unseen failure scenarios in real-time.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806440" y="685800"/>
            <a:ext cx="3017520" cy="41605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0" y="8046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B2FBE"/>
                </a:solidFill>
              </a:rPr>
              <a:t>DEVOPS ASSISTANT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92240" y="1207008"/>
            <a:ext cx="2286000" cy="566928"/>
          </a:xfrm>
          <a:prstGeom prst="roundRect">
            <a:avLst>
              <a:gd name="adj" fmla="val 8065"/>
            </a:avLst>
          </a:prstGeom>
          <a:solidFill>
            <a:srgbClr val="1B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1207008"/>
            <a:ext cx="2286000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E0EF"/>
                </a:solidFill>
              </a:rPr>
              <a:t>Why did my Kubernetes pod crash?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943600" y="1892808"/>
            <a:ext cx="2286000" cy="566928"/>
          </a:xfrm>
          <a:prstGeom prst="roundRect">
            <a:avLst>
              <a:gd name="adj" fmla="val 8065"/>
            </a:avLst>
          </a:prstGeom>
          <a:solidFill>
            <a:srgbClr val="1E4D2B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0" y="1892808"/>
            <a:ext cx="2286000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6D6A0"/>
                </a:solidFill>
              </a:rPr>
              <a:t>Analyzing logs... Detected OOM (Out of Memory) error. Pod exceeded 512Mi limit.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492240" y="2578608"/>
            <a:ext cx="2286000" cy="566928"/>
          </a:xfrm>
          <a:prstGeom prst="roundRect">
            <a:avLst>
              <a:gd name="adj" fmla="val 8065"/>
            </a:avLst>
          </a:prstGeom>
          <a:solidFill>
            <a:srgbClr val="1B3A5C"/>
          </a:solidFill>
          <a:ln/>
        </p:spPr>
      </p:sp>
      <p:sp>
        <p:nvSpPr>
          <p:cNvPr id="28" name="Text 26"/>
          <p:cNvSpPr/>
          <p:nvPr/>
        </p:nvSpPr>
        <p:spPr>
          <a:xfrm>
            <a:off x="6492240" y="2578608"/>
            <a:ext cx="2286000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E0EF"/>
                </a:solidFill>
              </a:rPr>
              <a:t>How do I fix it?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943600" y="3264408"/>
            <a:ext cx="2286000" cy="566928"/>
          </a:xfrm>
          <a:prstGeom prst="roundRect">
            <a:avLst>
              <a:gd name="adj" fmla="val 8065"/>
            </a:avLst>
          </a:prstGeom>
          <a:solidFill>
            <a:srgbClr val="1E4D2B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0" y="3264408"/>
            <a:ext cx="2286000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6D6A0"/>
                </a:solidFill>
              </a:rPr>
              <a:t>Increase memory limit in your YAML: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6D6A0"/>
                </a:solidFill>
              </a:rPr>
              <a:t>  resources: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6D6A0"/>
                </a:solidFill>
              </a:rPr>
              <a:t>    limits: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6D6A0"/>
                </a:solidFill>
              </a:rPr>
              <a:t>      memory: "1Gi"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7B2FBE"/>
                </a:solidFill>
              </a:rPr>
              <a:t>02  GENERATIVE AI — USE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AI-Powered Incident Resolution &amp; RCA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444752"/>
            <a:ext cx="3108960" cy="320040"/>
          </a:xfrm>
          <a:prstGeom prst="roundRect">
            <a:avLst>
              <a:gd name="adj" fmla="val 14286"/>
            </a:avLst>
          </a:prstGeom>
          <a:solidFill>
            <a:srgbClr val="7B2FB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4475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Use Case: Automating RCA &amp; Remediation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2651760" cy="2606040"/>
          </a:xfrm>
          <a:prstGeom prst="rect">
            <a:avLst/>
          </a:prstGeom>
          <a:solidFill>
            <a:srgbClr val="F4F8FC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920240"/>
            <a:ext cx="2651760" cy="914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2011680"/>
            <a:ext cx="457200" cy="38404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0116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02996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Log Understanding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46888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5C"/>
                </a:solidFill>
              </a:rPr>
              <a:t>Gen AI processes unstructured log data, identifies critical events, and summarizes root causes in plain language.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18688" y="1920240"/>
            <a:ext cx="2651760" cy="2606040"/>
          </a:xfrm>
          <a:prstGeom prst="rect">
            <a:avLst/>
          </a:prstGeom>
          <a:solidFill>
            <a:srgbClr val="F4F8FC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18688" y="1920240"/>
            <a:ext cx="2651760" cy="91440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15" name="Shape 13"/>
          <p:cNvSpPr/>
          <p:nvPr/>
        </p:nvSpPr>
        <p:spPr>
          <a:xfrm>
            <a:off x="3218688" y="2011680"/>
            <a:ext cx="457200" cy="384048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16" name="Text 14"/>
          <p:cNvSpPr/>
          <p:nvPr/>
        </p:nvSpPr>
        <p:spPr>
          <a:xfrm>
            <a:off x="3218688" y="20116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767328" y="202996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Chat Troubleshooting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55848" y="246888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5C"/>
                </a:solidFill>
              </a:rPr>
              <a:t>Engineers ask questions like "Why did my pod crash?" and AI analyzes logs to suggest probable causes (e.g., OOM errors).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71616" y="1920240"/>
            <a:ext cx="2651760" cy="2606040"/>
          </a:xfrm>
          <a:prstGeom prst="rect">
            <a:avLst/>
          </a:prstGeom>
          <a:solidFill>
            <a:srgbClr val="F4F8FC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71616" y="1920240"/>
            <a:ext cx="2651760" cy="9144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1" name="Shape 19"/>
          <p:cNvSpPr/>
          <p:nvPr/>
        </p:nvSpPr>
        <p:spPr>
          <a:xfrm>
            <a:off x="6071616" y="2011680"/>
            <a:ext cx="457200" cy="384048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2" name="Text 20"/>
          <p:cNvSpPr/>
          <p:nvPr/>
        </p:nvSpPr>
        <p:spPr>
          <a:xfrm>
            <a:off x="6071616" y="20116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20256" y="202996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Auto-Remediation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08776" y="246888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5C"/>
                </a:solidFill>
              </a:rPr>
              <a:t>AI suggests and can apply fixes automatically — such as updating memory limits in Kubernetes YAML configuration files.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4681728"/>
            <a:ext cx="8412480" cy="320040"/>
          </a:xfrm>
          <a:prstGeom prst="rect">
            <a:avLst/>
          </a:prstGeom>
          <a:solidFill>
            <a:srgbClr val="E8F9F1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46817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40"/>
                </a:solidFill>
              </a:rPr>
              <a:t>✓  Gen AI can handle novel failure patterns without pre-labeled training data — making it highly adaptable in dynamic environments.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0E0EF"/>
                </a:solidFill>
              </a:rPr>
              <a:t>KEY DIFFERENCES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</a:rPr>
              <a:t>Traditional AI vs. Generative AI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8229600" cy="4572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81328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Feature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0" y="1481328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Traditional AI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60720" y="1481328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Generative AI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51760" y="1481328"/>
            <a:ext cx="0" cy="457200"/>
          </a:xfrm>
          <a:prstGeom prst="line">
            <a:avLst/>
          </a:prstGeom>
          <a:noFill/>
          <a:ln w="12700">
            <a:solidFill>
              <a:srgbClr val="2A3A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0" y="1481328"/>
            <a:ext cx="0" cy="457200"/>
          </a:xfrm>
          <a:prstGeom prst="line">
            <a:avLst/>
          </a:prstGeom>
          <a:noFill/>
          <a:ln w="12700">
            <a:solidFill>
              <a:srgbClr val="2A3A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938528"/>
            <a:ext cx="8229600" cy="566928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12" name="Shape 10"/>
          <p:cNvSpPr/>
          <p:nvPr/>
        </p:nvSpPr>
        <p:spPr>
          <a:xfrm>
            <a:off x="2651760" y="1938528"/>
            <a:ext cx="0" cy="566928"/>
          </a:xfrm>
          <a:prstGeom prst="line">
            <a:avLst/>
          </a:prstGeom>
          <a:noFill/>
          <a:ln w="12700">
            <a:solidFill>
              <a:srgbClr val="E0EA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0" y="1938528"/>
            <a:ext cx="0" cy="566928"/>
          </a:xfrm>
          <a:prstGeom prst="line">
            <a:avLst/>
          </a:prstGeom>
          <a:noFill/>
          <a:ln w="12700">
            <a:solidFill>
              <a:srgbClr val="E0EA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505456"/>
            <a:ext cx="8229600" cy="0"/>
          </a:xfrm>
          <a:prstGeom prst="line">
            <a:avLst/>
          </a:prstGeom>
          <a:noFill/>
          <a:ln w="12700">
            <a:solidFill>
              <a:srgbClr val="E0EA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938528"/>
            <a:ext cx="2057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Data Type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0" y="1938528"/>
            <a:ext cx="2880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5C"/>
                </a:solidFill>
              </a:rPr>
              <a:t>Structured (logs, metrics)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60720" y="1938528"/>
            <a:ext cx="2880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5C"/>
                </a:solidFill>
              </a:rPr>
              <a:t>Structured + Unstructured (logs, docs, chat)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532888"/>
            <a:ext cx="822960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2651760" y="2532888"/>
            <a:ext cx="0" cy="566928"/>
          </a:xfrm>
          <a:prstGeom prst="line">
            <a:avLst/>
          </a:prstGeom>
          <a:noFill/>
          <a:ln w="12700">
            <a:solidFill>
              <a:srgbClr val="E0EAF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0" y="2532888"/>
            <a:ext cx="0" cy="566928"/>
          </a:xfrm>
          <a:prstGeom prst="line">
            <a:avLst/>
          </a:prstGeom>
          <a:noFill/>
          <a:ln w="12700">
            <a:solidFill>
              <a:srgbClr val="E0EAF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099816"/>
            <a:ext cx="8229600" cy="0"/>
          </a:xfrm>
          <a:prstGeom prst="line">
            <a:avLst/>
          </a:prstGeom>
          <a:noFill/>
          <a:ln w="12700">
            <a:solidFill>
              <a:srgbClr val="E0EA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532888"/>
            <a:ext cx="2057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Approach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0" y="2532888"/>
            <a:ext cx="2880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5C"/>
                </a:solidFill>
              </a:rPr>
              <a:t>Predictive, classification-based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760720" y="2532888"/>
            <a:ext cx="2880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5C"/>
                </a:solidFill>
              </a:rPr>
              <a:t>Generative, contextual understanding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127248"/>
            <a:ext cx="8229600" cy="566928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26" name="Shape 24"/>
          <p:cNvSpPr/>
          <p:nvPr/>
        </p:nvSpPr>
        <p:spPr>
          <a:xfrm>
            <a:off x="2651760" y="3127248"/>
            <a:ext cx="0" cy="566928"/>
          </a:xfrm>
          <a:prstGeom prst="line">
            <a:avLst/>
          </a:prstGeom>
          <a:noFill/>
          <a:ln w="12700">
            <a:solidFill>
              <a:srgbClr val="E0EAF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69280" y="3127248"/>
            <a:ext cx="0" cy="566928"/>
          </a:xfrm>
          <a:prstGeom prst="line">
            <a:avLst/>
          </a:prstGeom>
          <a:noFill/>
          <a:ln w="12700">
            <a:solidFill>
              <a:srgbClr val="E0EAF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694176"/>
            <a:ext cx="8229600" cy="0"/>
          </a:xfrm>
          <a:prstGeom prst="line">
            <a:avLst/>
          </a:prstGeom>
          <a:noFill/>
          <a:ln w="12700">
            <a:solidFill>
              <a:srgbClr val="E0EA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127248"/>
            <a:ext cx="2057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Use Case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743200" y="3127248"/>
            <a:ext cx="2880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5C"/>
                </a:solidFill>
              </a:rPr>
              <a:t>Detect anomalies, forecast failures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760720" y="3127248"/>
            <a:ext cx="2880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5C"/>
                </a:solidFill>
              </a:rPr>
              <a:t>Explain failures, automate remediation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3721608"/>
            <a:ext cx="822960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2651760" y="3721608"/>
            <a:ext cx="0" cy="566928"/>
          </a:xfrm>
          <a:prstGeom prst="line">
            <a:avLst/>
          </a:prstGeom>
          <a:noFill/>
          <a:ln w="12700">
            <a:solidFill>
              <a:srgbClr val="E0EAF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669280" y="3721608"/>
            <a:ext cx="0" cy="566928"/>
          </a:xfrm>
          <a:prstGeom prst="line">
            <a:avLst/>
          </a:prstGeom>
          <a:noFill/>
          <a:ln w="12700">
            <a:solidFill>
              <a:srgbClr val="E0EAF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4288536"/>
            <a:ext cx="8229600" cy="0"/>
          </a:xfrm>
          <a:prstGeom prst="line">
            <a:avLst/>
          </a:prstGeom>
          <a:noFill/>
          <a:ln w="12700">
            <a:solidFill>
              <a:srgbClr val="E0EAF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3721608"/>
            <a:ext cx="2057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Example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743200" y="3721608"/>
            <a:ext cx="2880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5C"/>
                </a:solidFill>
              </a:rPr>
              <a:t>Alerts on high CPU usage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760720" y="3721608"/>
            <a:ext cx="2880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5C"/>
                </a:solidFill>
              </a:rPr>
              <a:t>Summarizes logs &amp; suggests fixes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4315968"/>
            <a:ext cx="8229600" cy="566928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40" name="Shape 38"/>
          <p:cNvSpPr/>
          <p:nvPr/>
        </p:nvSpPr>
        <p:spPr>
          <a:xfrm>
            <a:off x="2651760" y="4315968"/>
            <a:ext cx="0" cy="566928"/>
          </a:xfrm>
          <a:prstGeom prst="line">
            <a:avLst/>
          </a:prstGeom>
          <a:noFill/>
          <a:ln w="12700">
            <a:solidFill>
              <a:srgbClr val="E0EAF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669280" y="4315968"/>
            <a:ext cx="0" cy="566928"/>
          </a:xfrm>
          <a:prstGeom prst="line">
            <a:avLst/>
          </a:prstGeom>
          <a:noFill/>
          <a:ln w="12700">
            <a:solidFill>
              <a:srgbClr val="E0EAF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7200" y="4882896"/>
            <a:ext cx="8229600" cy="0"/>
          </a:xfrm>
          <a:prstGeom prst="line">
            <a:avLst/>
          </a:prstGeom>
          <a:noFill/>
          <a:ln w="12700">
            <a:solidFill>
              <a:srgbClr val="E0EAF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4315968"/>
            <a:ext cx="2057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Limitation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2743200" y="4315968"/>
            <a:ext cx="2880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5C"/>
                </a:solidFill>
              </a:rPr>
              <a:t>Requires labeled datasets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760720" y="4315968"/>
            <a:ext cx="2880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5309"/>
                </a:solidFill>
              </a:rPr>
              <a:t>May hallucinate (generate incorrect suggestions)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651760" y="1481328"/>
            <a:ext cx="301752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7" name="Shape 45"/>
          <p:cNvSpPr/>
          <p:nvPr/>
        </p:nvSpPr>
        <p:spPr>
          <a:xfrm>
            <a:off x="5669280" y="1481328"/>
            <a:ext cx="3017520" cy="54864"/>
          </a:xfrm>
          <a:prstGeom prst="rect">
            <a:avLst/>
          </a:prstGeom>
          <a:solidFill>
            <a:srgbClr val="7B2FBE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06D6A0"/>
                </a:solidFill>
              </a:rPr>
              <a:t>03  LARGE LANGUAGE MODELS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</a:rPr>
              <a:t>What is an LLM?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44752"/>
            <a:ext cx="5029200" cy="1051560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44752"/>
            <a:ext cx="91440" cy="105156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" y="1481328"/>
            <a:ext cx="4681728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A3A5C"/>
                </a:solidFill>
              </a:rPr>
              <a:t>A Large Language Model is an advanced AI system trained on vast amounts of text data to understand, generate, and process human language using deep learning — particularly transformers.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254203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Popular LLMs Used in DevOps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962656"/>
            <a:ext cx="1115568" cy="914400"/>
          </a:xfrm>
          <a:prstGeom prst="rect">
            <a:avLst/>
          </a:prstGeom>
          <a:solidFill>
            <a:srgbClr val="F4F8FC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962656"/>
            <a:ext cx="1115568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054096"/>
            <a:ext cx="1115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</a:rPr>
              <a:t>GPT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" y="3511296"/>
            <a:ext cx="1115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99B0"/>
                </a:solidFill>
              </a:rPr>
              <a:t>OpenAI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719072" y="2962656"/>
            <a:ext cx="1115568" cy="914400"/>
          </a:xfrm>
          <a:prstGeom prst="rect">
            <a:avLst/>
          </a:prstGeom>
          <a:solidFill>
            <a:srgbClr val="F4F8FC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719072" y="2962656"/>
            <a:ext cx="1115568" cy="73152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15" name="Text 13"/>
          <p:cNvSpPr/>
          <p:nvPr/>
        </p:nvSpPr>
        <p:spPr>
          <a:xfrm>
            <a:off x="1719072" y="3054096"/>
            <a:ext cx="1115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B2FBE"/>
                </a:solidFill>
              </a:rPr>
              <a:t>BERT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719072" y="3511296"/>
            <a:ext cx="1115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99B0"/>
                </a:solidFill>
              </a:rPr>
              <a:t>Google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980944" y="2962656"/>
            <a:ext cx="1115568" cy="914400"/>
          </a:xfrm>
          <a:prstGeom prst="rect">
            <a:avLst/>
          </a:prstGeom>
          <a:solidFill>
            <a:srgbClr val="F4F8FC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80944" y="2962656"/>
            <a:ext cx="1115568" cy="7315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9" name="Text 17"/>
          <p:cNvSpPr/>
          <p:nvPr/>
        </p:nvSpPr>
        <p:spPr>
          <a:xfrm>
            <a:off x="2980944" y="3054096"/>
            <a:ext cx="1115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D6A0"/>
                </a:solidFill>
              </a:rPr>
              <a:t>LLaMA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2980944" y="3511296"/>
            <a:ext cx="1115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99B0"/>
                </a:solidFill>
              </a:rPr>
              <a:t>Meta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42816" y="2962656"/>
            <a:ext cx="1115568" cy="914400"/>
          </a:xfrm>
          <a:prstGeom prst="rect">
            <a:avLst/>
          </a:prstGeom>
          <a:solidFill>
            <a:srgbClr val="F4F8FC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242816" y="2962656"/>
            <a:ext cx="1115568" cy="73152"/>
          </a:xfrm>
          <a:prstGeom prst="rect">
            <a:avLst/>
          </a:prstGeom>
          <a:solidFill>
            <a:srgbClr val="FF9F1C"/>
          </a:solidFill>
          <a:ln/>
        </p:spPr>
      </p:sp>
      <p:sp>
        <p:nvSpPr>
          <p:cNvPr id="23" name="Text 21"/>
          <p:cNvSpPr/>
          <p:nvPr/>
        </p:nvSpPr>
        <p:spPr>
          <a:xfrm>
            <a:off x="4242816" y="3054096"/>
            <a:ext cx="1115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9F1C"/>
                </a:solidFill>
              </a:rPr>
              <a:t>Claude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242816" y="3511296"/>
            <a:ext cx="1115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99B0"/>
                </a:solidFill>
              </a:rPr>
              <a:t>Anthropic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04164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How LLMs Transform DevOps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4416552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50" dirty="0">
                <a:solidFill>
                  <a:srgbClr val="3A3A5C"/>
                </a:solidFill>
              </a:rPr>
              <a:t>Understand and summarize complex log files automatically</a:t>
            </a:r>
            <a:endParaRPr lang="en-US" sz="11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50" dirty="0">
                <a:solidFill>
                  <a:srgbClr val="3A3A5C"/>
                </a:solidFill>
              </a:rPr>
              <a:t>Generate YAML/config fixes and infrastructure-as-code snippets</a:t>
            </a:r>
            <a:endParaRPr lang="en-US" sz="11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50" dirty="0">
                <a:solidFill>
                  <a:srgbClr val="3A3A5C"/>
                </a:solidFill>
              </a:rPr>
              <a:t>Enable natural language querying of monitoring dashboards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852160" y="685800"/>
            <a:ext cx="2926080" cy="41605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8" name="Text 26"/>
          <p:cNvSpPr/>
          <p:nvPr/>
        </p:nvSpPr>
        <p:spPr>
          <a:xfrm>
            <a:off x="5989320" y="80467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6D6A0"/>
                </a:solidFill>
              </a:rPr>
              <a:t>TRANSFORMER ARCHITECTURE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126480" y="1188720"/>
            <a:ext cx="2423160" cy="384048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0" y="118872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Output Layer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333488" y="1572768"/>
            <a:ext cx="0" cy="146304"/>
          </a:xfrm>
          <a:prstGeom prst="line">
            <a:avLst/>
          </a:prstGeom>
          <a:noFill/>
          <a:ln w="12700">
            <a:solidFill>
              <a:srgbClr val="40507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26480" y="1719072"/>
            <a:ext cx="2423160" cy="384048"/>
          </a:xfrm>
          <a:prstGeom prst="rect">
            <a:avLst/>
          </a:prstGeom>
          <a:solidFill>
            <a:srgbClr val="2A6A4A"/>
          </a:solidFill>
          <a:ln/>
        </p:spPr>
      </p:sp>
      <p:sp>
        <p:nvSpPr>
          <p:cNvPr id="33" name="Text 31"/>
          <p:cNvSpPr/>
          <p:nvPr/>
        </p:nvSpPr>
        <p:spPr>
          <a:xfrm>
            <a:off x="6126480" y="171907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Feed Forward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333488" y="2103120"/>
            <a:ext cx="0" cy="146304"/>
          </a:xfrm>
          <a:prstGeom prst="line">
            <a:avLst/>
          </a:prstGeom>
          <a:noFill/>
          <a:ln w="12700">
            <a:solidFill>
              <a:srgbClr val="40507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26480" y="2249424"/>
            <a:ext cx="2423160" cy="38404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6" name="Text 34"/>
          <p:cNvSpPr/>
          <p:nvPr/>
        </p:nvSpPr>
        <p:spPr>
          <a:xfrm>
            <a:off x="6126480" y="224942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Multi-Head Attention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333488" y="2633472"/>
            <a:ext cx="0" cy="146304"/>
          </a:xfrm>
          <a:prstGeom prst="line">
            <a:avLst/>
          </a:prstGeom>
          <a:noFill/>
          <a:ln w="12700">
            <a:solidFill>
              <a:srgbClr val="40507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26480" y="2779776"/>
            <a:ext cx="2423160" cy="384048"/>
          </a:xfrm>
          <a:prstGeom prst="rect">
            <a:avLst/>
          </a:prstGeom>
          <a:solidFill>
            <a:srgbClr val="1A4A6A"/>
          </a:solidFill>
          <a:ln/>
        </p:spPr>
      </p:sp>
      <p:sp>
        <p:nvSpPr>
          <p:cNvPr id="39" name="Text 37"/>
          <p:cNvSpPr/>
          <p:nvPr/>
        </p:nvSpPr>
        <p:spPr>
          <a:xfrm>
            <a:off x="6126480" y="2779776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Positional Encoding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333488" y="3163824"/>
            <a:ext cx="0" cy="146304"/>
          </a:xfrm>
          <a:prstGeom prst="line">
            <a:avLst/>
          </a:prstGeom>
          <a:noFill/>
          <a:ln w="12700">
            <a:solidFill>
              <a:srgbClr val="40507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26480" y="3310128"/>
            <a:ext cx="2423160" cy="384048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42" name="Text 40"/>
          <p:cNvSpPr/>
          <p:nvPr/>
        </p:nvSpPr>
        <p:spPr>
          <a:xfrm>
            <a:off x="6126480" y="331012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Embedding Layer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333488" y="3694176"/>
            <a:ext cx="0" cy="146304"/>
          </a:xfrm>
          <a:prstGeom prst="line">
            <a:avLst/>
          </a:prstGeom>
          <a:noFill/>
          <a:ln w="12700">
            <a:solidFill>
              <a:srgbClr val="40507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126480" y="3840480"/>
            <a:ext cx="2423160" cy="384048"/>
          </a:xfrm>
          <a:prstGeom prst="rect">
            <a:avLst/>
          </a:prstGeom>
          <a:solidFill>
            <a:srgbClr val="4A2A6A"/>
          </a:solidFill>
          <a:ln/>
        </p:spPr>
      </p:sp>
      <p:sp>
        <p:nvSpPr>
          <p:cNvPr id="45" name="Text 43"/>
          <p:cNvSpPr/>
          <p:nvPr/>
        </p:nvSpPr>
        <p:spPr>
          <a:xfrm>
            <a:off x="6126480" y="384048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Input Tokens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3" name="Shape 1"/>
          <p:cNvSpPr/>
          <p:nvPr/>
        </p:nvSpPr>
        <p:spPr>
          <a:xfrm>
            <a:off x="8732520" y="0"/>
            <a:ext cx="41148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Key Takeaways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17320" y="1600200"/>
            <a:ext cx="6675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0E0EF"/>
                </a:solidFill>
              </a:rPr>
              <a:t>Traditional AI is rule-based and predictive — ideal for known anomaly patterns and structured data.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514600"/>
            <a:ext cx="7315200" cy="0"/>
          </a:xfrm>
          <a:prstGeom prst="line">
            <a:avLst/>
          </a:prstGeom>
          <a:noFill/>
          <a:ln w="12700">
            <a:solidFill>
              <a:srgbClr val="1B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697480"/>
            <a:ext cx="502920" cy="502920"/>
          </a:xfrm>
          <a:prstGeom prst="ellipse">
            <a:avLst/>
          </a:prstGeom>
          <a:solidFill>
            <a:srgbClr val="7B2FBE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17320" y="2606040"/>
            <a:ext cx="6675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0E0EF"/>
                </a:solidFill>
              </a:rPr>
              <a:t>Generative AI is dynamic and contextual — ideal for RCA, log summarization, and auto-remediation.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520440"/>
            <a:ext cx="7315200" cy="0"/>
          </a:xfrm>
          <a:prstGeom prst="line">
            <a:avLst/>
          </a:prstGeom>
          <a:noFill/>
          <a:ln w="12700">
            <a:solidFill>
              <a:srgbClr val="1B3A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703320"/>
            <a:ext cx="502920" cy="502920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611880"/>
            <a:ext cx="6675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0E0EF"/>
                </a:solidFill>
              </a:rPr>
              <a:t>LLMs power Gen AI by understanding unstructured data using transformer architectures (GPT, BERT, LLaMA).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5A7A"/>
                </a:solidFill>
              </a:rPr>
              <a:t>AI in DevOps — Lab 1 Workshop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 DevOps — Lab 1 Workshop</dc:title>
  <dc:subject>PptxGenJS Presentation</dc:subject>
  <dc:creator>PptxGenJS</dc:creator>
  <cp:lastModifiedBy>PptxGenJS</cp:lastModifiedBy>
  <cp:revision>1</cp:revision>
  <dcterms:created xsi:type="dcterms:W3CDTF">2026-04-18T18:35:11Z</dcterms:created>
  <dcterms:modified xsi:type="dcterms:W3CDTF">2026-04-18T18:35:11Z</dcterms:modified>
</cp:coreProperties>
</file>