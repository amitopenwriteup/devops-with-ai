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4285F4">
              <a:alpha val="8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34A853">
              <a:alpha val="7000"/>
            </a:srgbClr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75488"/>
            <a:ext cx="274320" cy="27432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475488"/>
            <a:ext cx="274320" cy="27432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" y="475488"/>
            <a:ext cx="274320" cy="27432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63624" y="475488"/>
            <a:ext cx="274320" cy="27432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Agent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Gemini 1.5 Flash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278892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1,500 req/day · Native function calling · Zero local GPU needed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429000"/>
            <a:ext cx="1737360" cy="402336"/>
          </a:xfrm>
          <a:prstGeom prst="roundRect">
            <a:avLst>
              <a:gd name="adj" fmla="val 15909"/>
            </a:avLst>
          </a:prstGeom>
          <a:solidFill>
            <a:srgbClr val="4285F4">
              <a:alpha val="16000"/>
            </a:srgbClr>
          </a:solidFill>
          <a:ln w="10160">
            <a:solidFill>
              <a:srgbClr val="428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290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Free API Key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23160" y="3429000"/>
            <a:ext cx="1737360" cy="402336"/>
          </a:xfrm>
          <a:prstGeom prst="roundRect">
            <a:avLst>
              <a:gd name="adj" fmla="val 15909"/>
            </a:avLst>
          </a:prstGeom>
          <a:solidFill>
            <a:srgbClr val="34A853">
              <a:alpha val="16000"/>
            </a:srgbClr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34290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Flash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3429000"/>
            <a:ext cx="1737360" cy="402336"/>
          </a:xfrm>
          <a:prstGeom prst="roundRect">
            <a:avLst>
              <a:gd name="adj" fmla="val 15909"/>
            </a:avLst>
          </a:prstGeom>
          <a:solidFill>
            <a:srgbClr val="EA4335">
              <a:alpha val="16000"/>
            </a:srgbClr>
          </a:solidFill>
          <a:ln w="10160">
            <a:solidFill>
              <a:srgbClr val="EA43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34290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Kubernetes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3429000"/>
            <a:ext cx="1737360" cy="402336"/>
          </a:xfrm>
          <a:prstGeom prst="roundRect">
            <a:avLst>
              <a:gd name="adj" fmla="val 15909"/>
            </a:avLst>
          </a:prstGeom>
          <a:solidFill>
            <a:srgbClr val="FBBC04">
              <a:alpha val="16000"/>
            </a:srgbClr>
          </a:solidFill>
          <a:ln w="10160">
            <a:solidFill>
              <a:srgbClr val="FBBC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4290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SDK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4041648"/>
            <a:ext cx="8321040" cy="74980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1,500 free requests/day on gemini-1.5-flash  ·  Get key at aistudio.google.com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2286000" cy="457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868680"/>
            <a:ext cx="228600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868680"/>
            <a:ext cx="228600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868680"/>
            <a:ext cx="2286000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in 3 Steps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060704"/>
            <a:ext cx="457200" cy="45720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60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0058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free Gemini API Key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1426464"/>
            <a:ext cx="786384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426464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aistudio.google.com → Get API key → copy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1,500 requests/day on gemini-1.5-flash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457200" cy="45720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30428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dependencies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0120" y="2724912"/>
            <a:ext cx="786384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2724912"/>
            <a:ext cx="7662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google-generativeai kubernetes pyyaml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657600"/>
            <a:ext cx="457200" cy="45720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60273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API key and run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0120" y="4023360"/>
            <a:ext cx="786384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136" y="4023360"/>
            <a:ext cx="7662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GEMINI_API_KEY="your-key-here"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k8s_agent.py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2286000" cy="457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868680"/>
            <a:ext cx="228600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868680"/>
            <a:ext cx="228600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868680"/>
            <a:ext cx="2286000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Gemini Tool-Calling Flow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572768" cy="1536192"/>
          </a:xfrm>
          <a:prstGeom prst="rect">
            <a:avLst/>
          </a:prstGeom>
          <a:solidFill>
            <a:srgbClr val="1A2235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17320"/>
            <a:ext cx="1572768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" y="209397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245059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65376" y="2139696"/>
            <a:ext cx="146304" cy="457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97510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29968" y="1417320"/>
            <a:ext cx="1572768" cy="1536192"/>
          </a:xfrm>
          <a:prstGeom prst="rect">
            <a:avLst/>
          </a:prstGeom>
          <a:solidFill>
            <a:srgbClr val="1A2235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1417320"/>
            <a:ext cx="1572768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150876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29968" y="209397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029968" y="245059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gemini-1.5-flash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21024" y="2139696"/>
            <a:ext cx="146304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1608" y="197510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85616" y="1417320"/>
            <a:ext cx="1572768" cy="1536192"/>
          </a:xfrm>
          <a:prstGeom prst="rect">
            <a:avLst/>
          </a:prstGeom>
          <a:solidFill>
            <a:srgbClr val="1A2235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85616" y="1417320"/>
            <a:ext cx="1572768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150876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785616" y="209397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Tools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785616" y="245059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76672" y="2139696"/>
            <a:ext cx="146304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7256" y="197510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41264" y="1417320"/>
            <a:ext cx="1572768" cy="1536192"/>
          </a:xfrm>
          <a:prstGeom prst="rect">
            <a:avLst/>
          </a:prstGeom>
          <a:solidFill>
            <a:srgbClr val="1A2235"/>
          </a:solidFill>
          <a:ln w="19050">
            <a:solidFill>
              <a:srgbClr val="FBBC0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41264" y="1417320"/>
            <a:ext cx="1572768" cy="54864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150876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☸️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41264" y="209397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API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541264" y="245059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32320" y="2139696"/>
            <a:ext cx="146304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32904" y="1975104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C04"/>
                </a:solidFill>
              </a:rPr>
              <a:t>▶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96912" y="1417320"/>
            <a:ext cx="1572768" cy="1536192"/>
          </a:xfrm>
          <a:prstGeom prst="rect">
            <a:avLst/>
          </a:prstGeom>
          <a:solidFill>
            <a:srgbClr val="1A2235"/>
          </a:solidFill>
          <a:ln w="19050">
            <a:solidFill>
              <a:srgbClr val="EA43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96912" y="1417320"/>
            <a:ext cx="1572768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6912" y="150876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296912" y="209397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296912" y="245059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response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273552"/>
            <a:ext cx="850392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27355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Agentic loop: Gemini keeps calling tools until it has enough info to answer — then returns plain text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20040" y="4096512"/>
            <a:ext cx="8503920" cy="777240"/>
          </a:xfrm>
          <a:prstGeom prst="rect">
            <a:avLst/>
          </a:prstGeom>
          <a:solidFill>
            <a:srgbClr val="1A2235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11480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uses  FunctionDeclaration  objects + FunctionResponse  proto parts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(unlike Ollama's OpenAI-style JSON dict + role:tool messages)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2286000" cy="457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868680"/>
            <a:ext cx="228600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868680"/>
            <a:ext cx="228600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868680"/>
            <a:ext cx="2286000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Tool Declarations — FunctionDeclaration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4663440" cy="3520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42416"/>
            <a:ext cx="443484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google.generativeai.types</a:t>
            </a:r>
            <a:pPr indent="0" marL="0">
              <a:buNone/>
            </a:pPr>
            <a:r>
              <a:rPr lang="en-US" sz="105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FunctionDeclaration, Tool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gemini_tools = </a:t>
            </a:r>
            <a:pPr indent="0" marL="0">
              <a:buNone/>
            </a:pPr>
            <a:r>
              <a:rPr lang="en-US" sz="105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(function_declarations=[
</a:t>
            </a:r>
            <a:pPr indent="0" marL="0">
              <a:buNone/>
            </a:pPr>
            <a:r>
              <a:rPr lang="en-US" sz="105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FunctionDeclaration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</a:t>
            </a:r>
            <a:pPr indent="0" marL="0">
              <a:buNone/>
            </a:pPr>
            <a:r>
              <a:rPr lang="en-US" sz="1050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"get_pods"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</a:t>
            </a:r>
            <a:pPr indent="0" marL="0">
              <a:buNone/>
            </a:pPr>
            <a:r>
              <a:rPr lang="en-US" sz="1050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 all pods...",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parameters={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"object",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"properties": {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"namespace": {"type":"string"},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57800" y="9875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declared tools: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1426464"/>
            <a:ext cx="365760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426464"/>
            <a:ext cx="54864" cy="56692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14538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get_pods()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21808" y="17190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namespace?, label_selector?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66360" y="2084832"/>
            <a:ext cx="365760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2084832"/>
            <a:ext cx="54864" cy="56692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21122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get_logs()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21808" y="2377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pod_name*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66360" y="2743200"/>
            <a:ext cx="365760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2743200"/>
            <a:ext cx="54864" cy="56692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27706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scale_deployment()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21808" y="30358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name*, replicas*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3401568"/>
            <a:ext cx="365760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3401568"/>
            <a:ext cx="54864" cy="566928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describe_node()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21808" y="36941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node_name*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4059936"/>
            <a:ext cx="365760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4059936"/>
            <a:ext cx="54864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40873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apply_manifest()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21808" y="435254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manifest_yaml*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4736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= required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2286000" cy="457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868680"/>
            <a:ext cx="228600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868680"/>
            <a:ext cx="228600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868680"/>
            <a:ext cx="2286000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— Gemini Chat Session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54864" cy="49377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GenerativeModel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2161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+ system + tools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563624"/>
            <a:ext cx="54864" cy="4937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636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model.start_chat()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181965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stateful chat session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167128"/>
            <a:ext cx="54864" cy="49377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67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chat.send_message(prompt)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4231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user message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770632"/>
            <a:ext cx="54864" cy="493776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706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part.function_call?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02666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response part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74136"/>
            <a:ext cx="54864" cy="49377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741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 function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6301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TOOL_MAP[fn_name](**args)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977640"/>
            <a:ext cx="54864" cy="4937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FunctionResponse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2336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 into chat session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581144"/>
            <a:ext cx="54864" cy="49377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81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part.text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8371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plain-text answer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23360" y="960120"/>
            <a:ext cx="4800600" cy="3977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1024128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</a:t>
            </a:r>
            <a:pPr indent="0" marL="0">
              <a:buNone/>
            </a:pPr>
            <a:r>
              <a:rPr lang="en-US" sz="105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GenerativeModel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model_name=</a:t>
            </a:r>
            <a:pPr indent="0" marL="0">
              <a:buNone/>
            </a:pPr>
            <a:r>
              <a:rPr lang="en-US" sz="1050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"gemini-1.5-flash"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system_instruction=SYSTEM,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tools=[gemini_tools],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= model.</a:t>
            </a:r>
            <a:pPr indent="0" marL="0">
              <a:buNone/>
            </a:pPr>
            <a:r>
              <a:rPr lang="en-US" sz="105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start_chat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chat.</a:t>
            </a:r>
            <a:pPr indent="0" marL="0">
              <a:buNone/>
            </a:pPr>
            <a:r>
              <a:rPr lang="en-US" sz="105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send_message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(prompt)
</a:t>
            </a:r>
            <a:pPr indent="0" marL="0">
              <a:buNone/>
            </a:pPr>
            <a:r>
              <a:rPr lang="en-US" sz="105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 = response.candidates[0]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.content.parts[0]
</a:t>
            </a:r>
            <a:pPr indent="0" marL="0">
              <a:buNone/>
            </a:pPr>
            <a:r>
              <a:rPr lang="en-US" sz="105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1050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part.function_call.name: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TOOL_MAP[fn](**args)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chat.</a:t>
            </a:r>
            <a:pPr indent="0" marL="0">
              <a:buNone/>
            </a:pPr>
            <a:r>
              <a:rPr lang="en-US" sz="105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send_message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FunctionResponse(name, result)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
</a:t>
            </a:r>
            <a:pPr indent="0" marL="0">
              <a:buNone/>
            </a:pPr>
            <a:r>
              <a:rPr lang="en-US" sz="105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
</a:t>
            </a:r>
            <a:pPr indent="0" marL="0">
              <a:buNone/>
            </a:pPr>
            <a:r>
              <a:rPr lang="en-US" sz="105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part.text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2286000" cy="457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868680"/>
            <a:ext cx="228600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868680"/>
            <a:ext cx="228600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868680"/>
            <a:ext cx="2286000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Session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54864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601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List all crashing pods in the production namespace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399032"/>
            <a:ext cx="850392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990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[tool] get_pods({'namespace': 'production'})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01368"/>
            <a:ext cx="8503920" cy="384048"/>
          </a:xfrm>
          <a:prstGeom prst="rect">
            <a:avLst/>
          </a:prstGeom>
          <a:solidFill>
            <a:srgbClr val="1A2235"/>
          </a:solidFill>
          <a:ln w="9525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80136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Gemini: Found 2 pods in CrashLoopBackOff in production: api-server-5f9d, worker-7bc2.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313432"/>
            <a:ext cx="54864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1343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Show me the last 50 log lines from api-server-5f9d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752344"/>
            <a:ext cx="850392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3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75234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[tool] get_logs({'pod_name': 'api-server-5f9d', 'tail_lines': 50})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8503920" cy="384048"/>
          </a:xfrm>
          <a:prstGeom prst="rect">
            <a:avLst/>
          </a:prstGeom>
          <a:solidFill>
            <a:srgbClr val="1A2235"/>
          </a:solidFill>
          <a:ln w="9525">
            <a:solidFill>
              <a:srgbClr val="3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546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Gemini: Logs show ConnectionRefusedError — DB host unreachable on port 5432.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666744"/>
            <a:ext cx="548640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666744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Scale the frontend deployment to 3 replicas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105656"/>
            <a:ext cx="850392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FBBC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10565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[tool] scale_deployment({'name': 'frontend', 'replicas': 3})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507992"/>
            <a:ext cx="8503920" cy="384048"/>
          </a:xfrm>
          <a:prstGeom prst="rect">
            <a:avLst/>
          </a:prstGeom>
          <a:solidFill>
            <a:srgbClr val="1A2235"/>
          </a:solidFill>
          <a:ln w="9525">
            <a:solidFill>
              <a:srgbClr val="34A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Gemini: Deployment "frontend" in "default" scaled to 3 replicas.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2286000" cy="457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868680"/>
            <a:ext cx="228600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868680"/>
            <a:ext cx="228600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868680"/>
            <a:ext cx="2286000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vs Ollama — What Changed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286000" cy="475488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01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960120"/>
            <a:ext cx="3108960" cy="475488"/>
          </a:xfrm>
          <a:prstGeom prst="rect">
            <a:avLst/>
          </a:prstGeom>
          <a:solidFill>
            <a:srgbClr val="1A3A6B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05156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9601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960120"/>
            <a:ext cx="3383280" cy="475488"/>
          </a:xfrm>
          <a:prstGeom prst="rect">
            <a:avLst/>
          </a:prstGeom>
          <a:solidFill>
            <a:srgbClr val="1A3A1A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61888" y="1051560"/>
            <a:ext cx="182880" cy="18288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051560"/>
            <a:ext cx="182880" cy="18288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1051560"/>
            <a:ext cx="182880" cy="18288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051560"/>
            <a:ext cx="182880" cy="18288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9601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(free cloud)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" y="1481328"/>
            <a:ext cx="2286000" cy="512064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481328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1481328"/>
            <a:ext cx="3108960" cy="512064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1481328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1481328"/>
            <a:ext cx="3383280" cy="512064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481328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google-generativeai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2048256"/>
            <a:ext cx="2286000" cy="512064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048256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format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2048256"/>
            <a:ext cx="3108960" cy="512064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2048256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OpenAI-style JSON dict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52160" y="2048256"/>
            <a:ext cx="3383280" cy="512064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048256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FunctionDeclaration objects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2615184"/>
            <a:ext cx="2286000" cy="512064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615184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51760" y="2615184"/>
            <a:ext cx="3108960" cy="512064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2615184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{"role":"tool",...} message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52160" y="2615184"/>
            <a:ext cx="3383280" cy="512064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615184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FunctionResponse proto part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" y="3182112"/>
            <a:ext cx="2286000" cy="512064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182112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51760" y="3182112"/>
            <a:ext cx="3108960" cy="512064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3182112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(local GPU/CPU)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852160" y="3182112"/>
            <a:ext cx="3383280" cy="512064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182112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(1,500 req/day)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28600" y="3749040"/>
            <a:ext cx="2286000" cy="512064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749040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51760" y="3749040"/>
            <a:ext cx="3108960" cy="512064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0" y="3749040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llama3.1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852160" y="3749040"/>
            <a:ext cx="3383280" cy="512064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0" y="3749040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gemini-1.5-flash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28600" y="4315968"/>
            <a:ext cx="2286000" cy="512064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315968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651760" y="4315968"/>
            <a:ext cx="3108960" cy="512064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0" y="4315968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Not required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852160" y="4315968"/>
            <a:ext cx="3383280" cy="512064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0" y="4315968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Required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28600" y="4828032"/>
            <a:ext cx="8686800" cy="182880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2286000" cy="457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868680"/>
            <a:ext cx="228600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868680"/>
            <a:ext cx="228600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868680"/>
            <a:ext cx="2286000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Tool Functions — Completely Unchanged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LLM layer swaps out. Every Kubernetes function is identical across Ollama, Gemini, and Claude versions.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160520" cy="9875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08760"/>
            <a:ext cx="4160520" cy="5486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600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get_pods()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" y="2011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namespaced pods — phase, readiness, 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4160520" cy="9875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79192"/>
            <a:ext cx="416052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7706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get_logs()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" y="31821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logs from any pod/container combo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849624"/>
            <a:ext cx="4160520" cy="9875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849624"/>
            <a:ext cx="416052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9410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scale_deployment()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" y="43525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replica count with 0–50 safety guard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508760"/>
            <a:ext cx="4160520" cy="9875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508760"/>
            <a:ext cx="4160520" cy="54864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600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describe_node()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9472" y="2011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CPU/memory capacity, taints, conditions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679192"/>
            <a:ext cx="4160520" cy="98755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679192"/>
            <a:ext cx="41605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7706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apply_manifest()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19472" y="31821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YAML manifest (Deployment supported)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262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RBAC YAML (k8s/rbac.yaml) is also identical — reuse the same ServiceAccount + ClusterRole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2286000" cy="457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868680"/>
            <a:ext cx="228600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868680"/>
            <a:ext cx="228600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868680"/>
            <a:ext cx="2286000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&amp; Model Options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8503920" cy="1325880"/>
          </a:xfrm>
          <a:prstGeom prst="rect">
            <a:avLst/>
          </a:prstGeom>
          <a:solidFill>
            <a:srgbClr val="1A2235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gemini-1.5-flash — Free Tier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14813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1901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Requests/day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4813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1901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4813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1901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4813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1901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25146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Options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" y="2944368"/>
            <a:ext cx="8503920" cy="566928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099816"/>
            <a:ext cx="274320" cy="27432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94436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gemini-1.5-flash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2944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94436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best for most K8s tasks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602736"/>
            <a:ext cx="8503920" cy="566928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758184"/>
            <a:ext cx="274320" cy="27432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60273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gemini-1.5-pro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360273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360273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reasoning — complex multi-tool chains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261104"/>
            <a:ext cx="8503920" cy="566928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416552"/>
            <a:ext cx="274320" cy="27432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26110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gemini-2.0-flash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426110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426110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— faster, improved tool calling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" y="4754880"/>
            <a:ext cx="8302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Swap model in run_agent():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model_name="gemini-1.5-pro"   # or "gemini-2.0-flash"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274320" cy="27432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384048"/>
            <a:ext cx="274320" cy="27432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384048"/>
            <a:ext cx="274320" cy="27432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384048"/>
            <a:ext cx="274320" cy="27432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4285F4">
              <a:alpha val="8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Gemini =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cluster ops,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cost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" y="2779776"/>
            <a:ext cx="8503920" cy="402336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843784"/>
            <a:ext cx="256032" cy="25603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7977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Free tier: 1,500 requests/day with gemini-1.5-flash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236976"/>
            <a:ext cx="8503920" cy="402336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300984"/>
            <a:ext cx="256032" cy="25603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3697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5 K8s tools: pods · logs · scale · nodes · manifests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694176"/>
            <a:ext cx="8503920" cy="402336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758184"/>
            <a:ext cx="256032" cy="25603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9417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Agentic loop: chains tool calls until answer is ready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4151376"/>
            <a:ext cx="8503920" cy="402336"/>
          </a:xfrm>
          <a:prstGeom prst="rect">
            <a:avLst/>
          </a:prstGeom>
          <a:solidFill>
            <a:srgbClr val="131929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215384"/>
            <a:ext cx="256032" cy="25603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5137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K8s functions &amp; RBAC YAML reused unchanged from Ollama version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4608576"/>
            <a:ext cx="8503920" cy="402336"/>
          </a:xfrm>
          <a:prstGeom prst="rect">
            <a:avLst/>
          </a:prstGeom>
          <a:solidFill>
            <a:srgbClr val="1A2235"/>
          </a:solidFill>
          <a:ln w="6350">
            <a:solidFill>
              <a:srgbClr val="2A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672584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0857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Swap to gemini-1.5-pro or gemini-2.0-flash in one line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K8s Agent with Gemini Free Tier</dc:title>
  <dc:subject>PptxGenJS Presentation</dc:subject>
  <dc:creator>PptxGenJS</dc:creator>
  <cp:lastModifiedBy>PptxGenJS</cp:lastModifiedBy>
  <cp:revision>1</cp:revision>
  <dcterms:created xsi:type="dcterms:W3CDTF">2026-04-19T05:46:16Z</dcterms:created>
  <dcterms:modified xsi:type="dcterms:W3CDTF">2026-04-19T05:46:16Z</dcterms:modified>
</cp:coreProperties>
</file>