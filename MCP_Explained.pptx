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for Beginners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 |  Tools  |  APIs  |  A2A Protocol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4622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KodeKloud — Model Context Protocol Explained for Beginners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Agents and MCPs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92808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92808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Cannot Take Action Alone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16936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16936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16936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Agents?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41064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41064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41064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94106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APIs and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868680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8686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868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892808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892808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1892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 Protocol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916936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16936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916936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291693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941064"/>
            <a:ext cx="416052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941064"/>
            <a:ext cx="457200" cy="7772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941064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394106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Setting Up Your First MCP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Cannot Take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solidFill>
            <a:srgbClr val="EBF0FF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(LLM) is trained on text and predicts the next token. It has no connection to the outside world by default.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LLM Cannot 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1828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057400"/>
            <a:ext cx="39319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5740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internet or live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3931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05456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write files on a computer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953512"/>
            <a:ext cx="39319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53512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external services or APIs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401568"/>
            <a:ext cx="3931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01568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previous conversations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849624"/>
            <a:ext cx="39319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9624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code or run programs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3931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9768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multi-step real-world tasks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Example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1993392"/>
            <a:ext cx="8412480" cy="1828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2057400"/>
            <a:ext cx="4206240" cy="2834640"/>
          </a:xfrm>
          <a:prstGeom prst="rect">
            <a:avLst/>
          </a:prstGeom>
          <a:solidFill>
            <a:srgbClr val="FDF0EE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4884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asking an LLM: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a doctor appointment for tomorrow morning."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knows what a doctor appointment is. It can write out the steps. But it cannot open your calendar, check your doctor's availability, or submit a booking form.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text — not actions.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Agents?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EBF0FF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is an LLM connected to tools, memory, and a decision loop — enabling it to plan and complete real-world tasks.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01168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011680" cy="155448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instructions, reasons about goals, and decides what to do next.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1554480"/>
            <a:ext cx="201168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96312" y="1965960"/>
            <a:ext cx="2011680" cy="155448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011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Abilities plugged into the agent — search, code execution, calendar access, etc.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1554480"/>
            <a:ext cx="201168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965960"/>
            <a:ext cx="2011680" cy="155448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011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window plus optional long-term storage for past interactions.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57416" y="1554480"/>
            <a:ext cx="201168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757416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Loop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57416" y="1965960"/>
            <a:ext cx="2011680" cy="155448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2011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action, execute it, observe the result, then repeat until the goal is met.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Decision Loop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1572768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416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Goal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38528" y="4041648"/>
            <a:ext cx="118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&gt;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57400" y="4041648"/>
            <a:ext cx="1572768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40416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Steps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30168" y="4041648"/>
            <a:ext cx="118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&gt;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49040" y="4041648"/>
            <a:ext cx="1572768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40416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Tool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21808" y="4041648"/>
            <a:ext cx="118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&gt;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40680" y="4041648"/>
            <a:ext cx="1572768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40416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Result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13448" y="4041648"/>
            <a:ext cx="118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&gt;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32320" y="4041648"/>
            <a:ext cx="1572768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404164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Done? Respond / Else Repeat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 Cursor IDE, GitHub Copilot, Claude, Devin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APIs and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(Application Programming Interface) is a defined contract that lets one program request a service from another — sending structured inputs and receiving structured outputs.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uses a tool to reach an external service: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20240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-&gt;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920240"/>
            <a:ext cx="1920240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-&gt;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1920240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-&gt;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1920240"/>
            <a:ext cx="1920240" cy="5486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6334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 Categories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160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Type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3017520"/>
            <a:ext cx="23317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364992"/>
            <a:ext cx="4160520" cy="292608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649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94560" y="33649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current news or research topics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666744"/>
            <a:ext cx="4160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667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Runner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194560" y="36667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Python scripts, return output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968496"/>
            <a:ext cx="4160520" cy="292608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684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194560" y="39684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CSV, write a summary report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4270248"/>
            <a:ext cx="4160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702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194560" y="42702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availability, create an event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4572000"/>
            <a:ext cx="4160520" cy="292608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720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94560" y="4572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records, update rows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4873752"/>
            <a:ext cx="4160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737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194560" y="48737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email or Slack notification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2633472"/>
            <a:ext cx="4023360" cy="2377440"/>
          </a:xfrm>
          <a:prstGeom prst="rect">
            <a:avLst/>
          </a:prstGeom>
          <a:solidFill>
            <a:srgbClr val="EBF0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92040" y="30632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tools, an agent can only produce text responses.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tools, an agent can query a live database, send a Slack message, or run a script — and use the result to continue reasoning toward its goal.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solidFill>
            <a:srgbClr val="EBF0FF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that defines how AI agents discover, connect to, and use external tools — regardless of which company built the agent or the tool.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502920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USB-C, every device needed a different cable. USB-C is one universal connector. MCP does the same for AI agents and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MCP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578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023360" cy="338328"/>
          </a:xfrm>
          <a:prstGeom prst="rect">
            <a:avLst/>
          </a:prstGeom>
          <a:solidFill>
            <a:srgbClr val="FDF0EE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7180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Each tool required custom code per agent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55848"/>
            <a:ext cx="402336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5584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Integrations broke when APIs changed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739896"/>
            <a:ext cx="4023360" cy="338328"/>
          </a:xfrm>
          <a:prstGeom prst="rect">
            <a:avLst/>
          </a:prstGeom>
          <a:solidFill>
            <a:srgbClr val="FDF0EE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9896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standard way to describe tool capabilities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123944"/>
            <a:ext cx="402336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23944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Adding a new tool meant rewriting logic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507992"/>
            <a:ext cx="4023360" cy="338328"/>
          </a:xfrm>
          <a:prstGeom prst="rect">
            <a:avLst/>
          </a:prstGeom>
          <a:solidFill>
            <a:srgbClr val="FDF0EE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50799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Only the original developer could integrate 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023360" cy="338328"/>
          </a:xfrm>
          <a:prstGeom prst="rect">
            <a:avLst/>
          </a:prstGeom>
          <a:solidFill>
            <a:srgbClr val="E8F5EE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7180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One standard interface for every tool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355848"/>
            <a:ext cx="402336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35584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Tools register themselves automatically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739896"/>
            <a:ext cx="4023360" cy="338328"/>
          </a:xfrm>
          <a:prstGeom prst="rect">
            <a:avLst/>
          </a:prstGeom>
          <a:solidFill>
            <a:srgbClr val="E8F5EE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39896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Agents discover capabilities at runtime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4123944"/>
            <a:ext cx="402336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123944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tools work without code changes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4507992"/>
            <a:ext cx="4023360" cy="338328"/>
          </a:xfrm>
          <a:prstGeom prst="rect">
            <a:avLst/>
          </a:prstGeom>
          <a:solidFill>
            <a:srgbClr val="E8F5EE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50799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Any agent can use any MCP-compatible tool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468880" cy="1188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Claude, GPT)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91440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</a:rPr>
              <a:t>&lt;--&gt;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914400"/>
            <a:ext cx="2468880" cy="1188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Handler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97880" y="91440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DB"/>
                </a:solidFill>
              </a:rPr>
              <a:t>&lt;--&gt;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914400"/>
            <a:ext cx="2468880" cy="11887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Services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MCP Works — Step by Step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679192"/>
            <a:ext cx="8412480" cy="1828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743200"/>
            <a:ext cx="914400" cy="40233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7432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2743200"/>
            <a:ext cx="7498080" cy="402336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74320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starts up and registers all available tools with their names, descriptions, and input schemas.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914400" cy="40233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004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80160" y="3200400"/>
            <a:ext cx="74980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20040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Client (AI Agent) connects to the server and asks: what tools do you have?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914400" cy="40233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576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80160" y="3657600"/>
            <a:ext cx="7498080" cy="402336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365760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gives the agent a goal. The agent decides which tool to call based on the tool descriptions.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914400" cy="40233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1148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280160" y="4114800"/>
            <a:ext cx="74980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411480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sends a structured request to the MCP Server, which routes it to the correct tool.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914400" cy="40233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5720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280160" y="4572000"/>
            <a:ext cx="7498080" cy="402336"/>
          </a:xfrm>
          <a:prstGeom prst="rect">
            <a:avLst/>
          </a:prstGeom>
          <a:solidFill>
            <a:srgbClr val="F4F4F4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7320" y="457200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runs, the result is returned to the agent, which uses it to produce the next action or final answer.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 Protocol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EBF0FF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allows one AI agent to delegate subtasks to other specialist agents, each with their own set of MCP tools, enabling complex multi-step workflows.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2743200" cy="5943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554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2148840"/>
            <a:ext cx="45720" cy="64008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788920"/>
            <a:ext cx="1783080" cy="594360"/>
          </a:xfrm>
          <a:prstGeom prst="rect">
            <a:avLst/>
          </a:prstGeom>
          <a:solidFill>
            <a:srgbClr val="F4F4F4"/>
          </a:solidFill>
          <a:ln w="762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788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148840"/>
            <a:ext cx="45720" cy="64008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2788920"/>
            <a:ext cx="1783080" cy="594360"/>
          </a:xfrm>
          <a:prstGeom prst="rect">
            <a:avLst/>
          </a:prstGeom>
          <a:solidFill>
            <a:srgbClr val="F4F4F4"/>
          </a:solidFill>
          <a:ln w="762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788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2148840"/>
            <a:ext cx="45720" cy="64008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2788920"/>
            <a:ext cx="1783080" cy="594360"/>
          </a:xfrm>
          <a:prstGeom prst="rect">
            <a:avLst/>
          </a:prstGeom>
          <a:solidFill>
            <a:srgbClr val="F4F4F4"/>
          </a:solidFill>
          <a:ln w="762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788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2148840"/>
            <a:ext cx="45720" cy="64008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2788920"/>
            <a:ext cx="1783080" cy="594360"/>
          </a:xfrm>
          <a:prstGeom prst="rect">
            <a:avLst/>
          </a:prstGeom>
          <a:solidFill>
            <a:srgbClr val="F4F4F4"/>
          </a:solidFill>
          <a:ln w="762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7889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139696"/>
            <a:ext cx="8412480" cy="4572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520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Scenario: Automated Report Generation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3913632"/>
            <a:ext cx="6720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goal: produce a weekly market summary report.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513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4151376"/>
            <a:ext cx="6720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web search tool to gather data from multiple sources.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Agent: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57400" y="4389120"/>
            <a:ext cx="6720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report using the gathered data.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6268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7400" y="4626864"/>
            <a:ext cx="6720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facts, grammar, and formatting.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Agent: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57400" y="4864608"/>
            <a:ext cx="6720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report as a PDF and emails it to the team.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1261872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160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 Summarisation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reads patient records from a hospital database, extracts key diagnoses, and generates a structured summary for the attending doctor — without the doctor opening any system.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60520" cy="1261872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4160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22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Bug Triage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monitors a GitHub repository, reads new issue reports, searches the codebase for related files, and posts a diagnostic comment with suggested fixes — automatically.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160520" cy="1261872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4160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Onboarding Automation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2624328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employee joins, an agent creates their accounts, adds them to the right Slack channels, schedules orientation meetings, and sends a welcome email — all from one trigger.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4160520" cy="1261872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240280"/>
            <a:ext cx="4160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40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 Generation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2624328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queries the accounting database, fetches exchange rates from a live API, runs calculations, and produces a formatted monthly P&amp;L report ready for review.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60520" cy="1261872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57600"/>
            <a:ext cx="4160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Escalation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041648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reads incoming support tickets, checks the order database for context, drafts a resolution reply, and — if unresolved — creates a task in the team's project tracker.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60520" cy="1261872"/>
          </a:xfrm>
          <a:prstGeom prst="rect">
            <a:avLst/>
          </a:prstGeom>
          <a:solidFill>
            <a:srgbClr val="F4F4F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657600"/>
            <a:ext cx="4160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576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Publishing Pipeline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4041648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takes a draft article, checks it for plagiarism via an API, formats it to brand guidelines, uploads it to the CMS, and schedules it for publication.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First MCP — Demo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749808"/>
          </a:xfrm>
          <a:prstGeom prst="rect">
            <a:avLst/>
          </a:prstGeom>
          <a:solidFill>
            <a:srgbClr val="F4F4F4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" cy="7498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868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MCP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2070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pre-built MCP server for the tool you need. Many open-source MCP servers are available on GitHub covering databases, search, calendars, and more.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64208"/>
            <a:ext cx="411480" cy="7498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64208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1709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Client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204825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AI agent to the MCP server URL. Provide the server address, any authentication credentials, and a name the agent will use to reference the server.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F4F4F4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05456"/>
            <a:ext cx="411480" cy="7498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05456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25511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Discovery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968" y="2889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automatically calls the MCP server's tool listing endpoint. It reads each tool's name, description, and required inputs — no manual configuration needed.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841248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46704"/>
            <a:ext cx="411480" cy="7498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46704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3924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Test Request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" y="373075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a goal that requires the tool. For example: "Summarise all open support tickets from today." Watch the agent call the tool and return a result.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8412480" cy="749808"/>
          </a:xfrm>
          <a:prstGeom prst="rect">
            <a:avLst/>
          </a:prstGeom>
          <a:solidFill>
            <a:srgbClr val="F4F4F4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87952"/>
            <a:ext cx="411480" cy="7498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87952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6968" y="42336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Reasoning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" y="457200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the agent's plan: which tool it selected, what input it sent, what the tool returned, and how the agent used that output to complete the task.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free hands-on MCP lab at kode.wiki/3IxxdBG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713232"/>
          </a:xfrm>
          <a:prstGeom prst="rect">
            <a:avLst/>
          </a:prstGeom>
          <a:solidFill>
            <a:srgbClr val="F4F4F4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9144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8229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text predictors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960120"/>
            <a:ext cx="18288" cy="43891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82296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isolated — they cannot take real-world action on their own without external tools.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841248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0"/>
            <a:ext cx="9144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459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bridge the gap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1783080"/>
            <a:ext cx="18288" cy="43891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4592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an LLM to tools, memory, and a decision loop produces a system that can complete real tasks.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8412480" cy="713232"/>
          </a:xfrm>
          <a:prstGeom prst="rect">
            <a:avLst/>
          </a:prstGeom>
          <a:solidFill>
            <a:srgbClr val="F4F4F4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68880"/>
            <a:ext cx="9144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4688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universal standard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54680" y="2606040"/>
            <a:ext cx="18288" cy="43891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46888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USB-C for devices, MCP gives agents one consistent interface to discover and use any tool.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91840"/>
            <a:ext cx="9144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918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enables orchestration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54680" y="3429000"/>
            <a:ext cx="18288" cy="43891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29184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delegate to other agents, allowing complex workflows that no single model could handle alone.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713232"/>
          </a:xfrm>
          <a:prstGeom prst="rect">
            <a:avLst/>
          </a:prstGeom>
          <a:solidFill>
            <a:srgbClr val="F4F4F4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14800"/>
            <a:ext cx="9144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1148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already underway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54680" y="4251960"/>
            <a:ext cx="18288" cy="43891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411480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assistants, enterprise automation tools, and AI platforms are already shipping MCP support today.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Empowering AI to Act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8412480" cy="1828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full video: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606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youtube.com/watch?v=E2DEHOEbzks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hands-on lab: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971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kode.wiki/3IxxdBG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 courses: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337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kode.wiki/3CzuOnc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2793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Model Context Protocol (MCP) Explained for Beginners — KodeKloud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 Explained</dc:title>
  <dc:subject>PptxGenJS Presentation</dc:subject>
  <dc:creator>PptxGenJS</dc:creator>
  <cp:lastModifiedBy>PptxGenJS</cp:lastModifiedBy>
  <cp:revision>1</cp:revision>
  <dcterms:created xsi:type="dcterms:W3CDTF">2026-04-26T05:43:02Z</dcterms:created>
  <dcterms:modified xsi:type="dcterms:W3CDTF">2026-04-26T05:43:02Z</dcterms:modified>
</cp:coreProperties>
</file>